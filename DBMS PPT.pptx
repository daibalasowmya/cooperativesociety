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61" r:id="rId11"/>
    <p:sldId id="262" r:id="rId12"/>
    <p:sldId id="263" r:id="rId13"/>
  </p:sldIdLst>
  <p:sldSz cx="12192000" cy="6858000"/>
  <p:notesSz cx="6858000" cy="121920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Baloo 2 Bold" charset="0"/>
      <p:regular r:id="rId19"/>
    </p:embeddedFont>
    <p:embeddedFont>
      <p:font typeface="Andika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-523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957C8-2385-4DC7-AAC7-74190F3B8258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D5679-6A2D-4FE7-B822-2E3C86A82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19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relational database system for managing cooperative society membership and savings-related work. Preview the four ideas: entities, keys, relationships, and implementation safeguards.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system is not just a list of tables. Its value comes from connecting the services around a consistent member record, so information can be retrieved and reported more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fourteen entities by group. Emphasize that the ER design makes the cooperative's work visible before implementation begins, while the diagram itself should be treated as a proposed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design choices to trust. Ask the oral-check question and invite the audience to answer: the foreign key connects the loan record to the member through the referenced member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02237" cy="1217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4500"/>
              </a:spcAft>
              <a:buNone/>
            </a:pP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09584" y="1512524"/>
            <a:ext cx="6502237" cy="3359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Design and Implementation of a Database Management System for </a:t>
            </a:r>
            <a:r>
              <a:rPr lang="en-US" sz="4200" b="1" dirty="0">
                <a:solidFill>
                  <a:srgbClr val="FFC000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Cooperative Society Membership </a:t>
            </a:r>
            <a:r>
              <a:rPr lang="en-US" sz="42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and Savings Management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5663605"/>
            <a:ext cx="711182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kern="0" spc="21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Daibala Sowmya · Roll No. 25WU0102331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42247" y="6559951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One trusted record connects every cooperative service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168128"/>
            <a:ext cx="4267093" cy="3183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Organize members, savings, shares, loans, repayments, dividends, and meetings in one relational database.</a:t>
            </a:r>
            <a:endParaRPr lang="en-US" sz="2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Improve accurate record-keeping, retrieval, and reporting.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371" y="1959570"/>
            <a:ext cx="6400739" cy="3600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915025"/>
            <a:ext cx="1158211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kern="0" spc="21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Scope: data design, relationships, key types, implementation, and safeguards.</a:t>
            </a:r>
            <a:endParaRPr lang="en-US" sz="2100" dirty="0"/>
          </a:p>
        </p:txBody>
      </p:sp>
      <p:sp>
        <p:nvSpPr>
          <p:cNvPr id="6" name="Rectangle 5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7670509" y="2222599"/>
            <a:ext cx="391160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70509" y="2848074"/>
            <a:ext cx="3911601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585" y="5301357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682"/>
            <a:ext cx="12256475" cy="6938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8400" cy="27024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7413"/>
            <a:ext cx="7140559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1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86600" cy="32641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9114310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7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1091"/>
            <a:ext cx="6706181" cy="1615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058400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92464" cy="64851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94" y="68752"/>
            <a:ext cx="6683319" cy="27815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48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18464"/>
            <a:ext cx="3654671" cy="67150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214" y="361556"/>
            <a:ext cx="6530848" cy="302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4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25910" cy="20347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3750"/>
            <a:ext cx="7064352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33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9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Relationship cardinality in the ER design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585" y="1210866"/>
            <a:ext cx="1158211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table translates the diagram's connectors into readable parent–child cardinalities.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12912"/>
          <a:ext cx="10972526" cy="4380756"/>
        </p:xfrm>
        <a:graphic>
          <a:graphicData uri="http://schemas.openxmlformats.org/drawingml/2006/table">
            <a:tbl>
              <a:tblPr/>
              <a:tblGrid>
                <a:gridCol w="3072307"/>
                <a:gridCol w="3072307"/>
                <a:gridCol w="2413956"/>
                <a:gridCol w="2413956"/>
              </a:tblGrid>
              <a:tr h="514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Parent entity</a:t>
                      </a:r>
                      <a:endParaRPr lang="en-US" sz="19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Child entity</a:t>
                      </a:r>
                      <a:endParaRPr lang="en-US" sz="19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Cardinality</a:t>
                      </a:r>
                      <a:endParaRPr lang="en-US" sz="19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Linking field</a:t>
                      </a:r>
                      <a:endParaRPr lang="en-US" sz="19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NOMINEE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SHARE_HOLDING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SHARE_CLASS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SHARE_HOLDING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share_class_id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SAVINGS_ACCOUNT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SAVINGS_ACCOUNT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SAVINGS_TRANSACTION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savings_account_id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LOAN_PRODUCT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loan_product_id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LOAN_REPAYMENT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DIVIDEND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MEETING_ATTENDANCE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MEETING_ATTENDANCE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USER_ROLE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USER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1 : many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role_id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82850" marR="182850" marT="97520" marB="97520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307138"/>
            <a:ext cx="10972526" cy="53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17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MEETING_ATTENDANCE is the linking entity for the member–meeting many-to-many pattern represented by the two one-to-many rows.</a:t>
            </a:r>
            <a:endParaRPr lang="en-US" sz="1700" dirty="0"/>
          </a:p>
        </p:txBody>
      </p:sp>
      <p:sp>
        <p:nvSpPr>
          <p:cNvPr id="6" name="Rectangle 5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75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RDBMS relational schema from the ER design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09585" y="1173361"/>
            <a:ext cx="11582110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5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Relations, key fields, and directly labeled unique fields from the supplied cooperative-society diagram.</a:t>
            </a:r>
            <a:endParaRPr lang="en-US" sz="1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37506"/>
          <a:ext cx="10972525" cy="4796233"/>
        </p:xfrm>
        <a:graphic>
          <a:graphicData uri="http://schemas.openxmlformats.org/drawingml/2006/table">
            <a:tbl>
              <a:tblPr/>
              <a:tblGrid>
                <a:gridCol w="2743131"/>
                <a:gridCol w="2743131"/>
                <a:gridCol w="3840384"/>
                <a:gridCol w="1645879"/>
              </a:tblGrid>
              <a:tr h="485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5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Relation</a:t>
                      </a:r>
                      <a:endParaRPr lang="en-US" sz="185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5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Primary key</a:t>
                      </a:r>
                      <a:endParaRPr lang="en-US" sz="185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5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Foreign key field(s)</a:t>
                      </a:r>
                      <a:endParaRPr lang="en-US" sz="185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5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Unique</a:t>
                      </a:r>
                      <a:endParaRPr lang="en-US" sz="185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member_no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NOMINEE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nominee_id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SHARE_CLASS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share_class_id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SHARE_HOLDING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holding_id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member_id; share_class_id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SAVINGS_ACCOUNT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savings_account_id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account_number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SAVINGS_TRANSACTION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transaction_id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savings_account_id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LOAN_PRODUCT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loan_product_id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member_id; loan_product_id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LOAN_REPAYMENT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repayment_id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loan_id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DIVIDEND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dividend_id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MEETING_ATTENDANCE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attendance_id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meeting_id; member_id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USER_ROLE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role_id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4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USER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user_id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role_id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B3D"/>
                          </a:solidFill>
                          <a:latin typeface="Andika" pitchFamily="34" charset="0"/>
                          <a:ea typeface="Andika" pitchFamily="34" charset="-122"/>
                          <a:cs typeface="Andika" pitchFamily="34" charset="-120"/>
                        </a:rPr>
                        <a:t>—</a:t>
                      </a:r>
                      <a:endParaRPr lang="en-US" sz="800" dirty="0">
                        <a:latin typeface="Andika" charset="0"/>
                        <a:ea typeface="Andika" charset="0"/>
                        <a:cs typeface="Andika" charset="0"/>
                      </a:endParaRPr>
                    </a:p>
                  </a:txBody>
                  <a:tcPr marL="174367" marR="174367" marT="92996" marB="92996" anchor="ctr">
                    <a:lnL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04793" y="6599634"/>
            <a:ext cx="11582110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16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This is a relational-schema view of the diagram, not a claim that the database has already been implemented.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58527"/>
            <a:ext cx="833099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7914" y="2263999"/>
            <a:ext cx="7805210" cy="408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600" b="1" dirty="0" smtClean="0">
                <a:solidFill>
                  <a:srgbClr val="1F2B3D"/>
                </a:solidFill>
                <a:latin typeface="Baloo 2 Bold" pitchFamily="34" charset="0"/>
                <a:cs typeface="Baloo 2 Bold" pitchFamily="34" charset="-120"/>
              </a:rPr>
              <a:t>     </a:t>
            </a:r>
            <a:r>
              <a:rPr lang="en-US" sz="9600" b="1" dirty="0" smtClean="0">
                <a:solidFill>
                  <a:srgbClr val="1F2B3D"/>
                </a:solidFill>
                <a:latin typeface="Baloo 2 Bold" pitchFamily="34" charset="0"/>
                <a:cs typeface="Baloo 2 Bold" pitchFamily="34" charset="-120"/>
              </a:rPr>
              <a:t>THANK</a:t>
            </a:r>
          </a:p>
          <a:p>
            <a:pPr marL="0" indent="0" algn="l">
              <a:lnSpc>
                <a:spcPct val="87000"/>
              </a:lnSpc>
              <a:buNone/>
            </a:pPr>
            <a:r>
              <a:rPr lang="en-US" sz="9600" b="1" dirty="0" smtClean="0">
                <a:solidFill>
                  <a:srgbClr val="1F2B3D"/>
                </a:solidFill>
                <a:latin typeface="Baloo 2 Bold" pitchFamily="34" charset="0"/>
                <a:cs typeface="Baloo 2 Bold" pitchFamily="34" charset="-120"/>
              </a:rPr>
              <a:t>       YOU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09585" y="2514798"/>
            <a:ext cx="7721407" cy="358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7000"/>
              </a:lnSpc>
              <a:buSzPct val="100000"/>
            </a:pP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576" y="0"/>
            <a:ext cx="3251119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42248" y="6559950"/>
            <a:ext cx="1149447" cy="29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446</Words>
  <Application>Microsoft Office PowerPoint</Application>
  <PresentationFormat>Custom</PresentationFormat>
  <Paragraphs>136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Baloo 2 Bold</vt:lpstr>
      <vt:lpstr>Andika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16</cp:revision>
  <dcterms:created xsi:type="dcterms:W3CDTF">2026-09-24T02:58:03Z</dcterms:created>
  <dcterms:modified xsi:type="dcterms:W3CDTF">2026-10-07T03:31:34Z</dcterms:modified>
</cp:coreProperties>
</file>